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1097280"/>
            <a:ext cx="9997135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40" y="1463040"/>
            <a:ext cx="926561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59E0B"/>
                </a:solidFill>
                <a:latin typeface="Arial"/>
              </a:defRPr>
            </a:pPr>
            <a:r>
              <a:t>FURNISH</a:t>
            </a:r>
          </a:p>
          <a:p>
            <a:pPr>
              <a:spcBef>
                <a:spcPts val="1000"/>
              </a:spcBef>
              <a:defRPr sz="2200" b="1">
                <a:solidFill>
                  <a:srgbClr val="F8FAFC"/>
                </a:solidFill>
                <a:latin typeface="Arial"/>
              </a:defRPr>
            </a:pPr>
            <a:r>
              <a:t>Next-Generation E-Commerce &amp; Agentic AI Interior Stylist Platform</a:t>
            </a:r>
          </a:p>
          <a:p>
            <a:pPr>
              <a:spcBef>
                <a:spcPts val="1500"/>
              </a:spcBef>
              <a:defRPr sz="1400">
                <a:solidFill>
                  <a:srgbClr val="94A3B8"/>
                </a:solidFill>
                <a:latin typeface="Arial"/>
              </a:defRPr>
            </a:pPr>
            <a:r>
              <a:t>A modern full-stack web application powered by Django 6.1, Google AI Studio (Gemini 3.6 Flash), Autonomous Function Calling, and Razorpay Payments.</a:t>
            </a:r>
          </a:p>
          <a:p>
            <a:pPr>
              <a:spcBef>
                <a:spcPts val="3000"/>
              </a:spcBef>
              <a:defRPr sz="1300" b="1">
                <a:solidFill>
                  <a:srgbClr val="10B981"/>
                </a:solidFill>
                <a:latin typeface="Arial"/>
              </a:defRPr>
            </a:pPr>
            <a:r>
              <a:t>• Django 6.1  |  • Google Gemini 3.6 Flash  |  • 8 Database AI Tools  |  • Razorpay Payment Gateway</a:t>
            </a:r>
          </a:p>
          <a:p>
            <a:pPr>
              <a:spcBef>
                <a:spcPts val="2000"/>
              </a:spcBef>
              <a:defRPr sz="1200">
                <a:solidFill>
                  <a:srgbClr val="94A3B8"/>
                </a:solidFill>
              </a:defRPr>
            </a:pPr>
            <a:r>
              <a:t>Project Technical Overview &amp; Architecture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Arial"/>
              </a:defRPr>
            </a:pPr>
            <a:r>
              <a:t>FURNISH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Executive Summary &amp; Project Vision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728655" cy="274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9E0B"/>
                </a:solidFill>
              </a:defRPr>
            </a:pPr>
            <a:r>
              <a:t>🛒 Robust E-Commerce Foundation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Complete catalog management with dynamic multi-criteria filtering (category, price range, stock, featured).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Seamless cart operations, wishlist management, and address book integration.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Secure checkout with dual payment modes: Cash on Delivery (COD) &amp; Razorpay Online Payment Gateway.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UUID order tracking system with real-time status updates and order items breakdown.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8095" y="164592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30975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366F1"/>
                </a:solidFill>
              </a:defRPr>
            </a:pPr>
            <a:r>
              <a:t>🤖 Agentic AI Innovation Layer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Embedded AI Concierge powered by Google AI Studio (Gemini 3.6 Flash / Gemini models).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Autonomous Tool Calling: 8 direct python tools interacting directly with Django ORM.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Acts as a 24/7 personal interior stylist providing color matching, room layout advice, and catalog search.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Can perform live actions: add/remove items to cart, retrieve active cart totals, and track past user orders.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Arial"/>
              </a:defRPr>
            </a:pPr>
            <a:r>
              <a:t>FURNISH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Problem Statement &amp; The Furnish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728655" cy="274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28416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296265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EF4444"/>
                </a:solidFill>
              </a:defRPr>
            </a:pPr>
            <a:r>
              <a:t>❌ The Problem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</a:defRPr>
            </a:pPr>
            <a:r>
              <a:t>• Traditional e-commerce feels rigid &amp; static.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</a:defRPr>
            </a:pPr>
            <a:r>
              <a:t>• Customers struggle to visual spatial fit &amp; color harmony.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</a:defRPr>
            </a:pPr>
            <a:r>
              <a:t>• High support load for simple queries like order tracking and product specs.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</a:defRPr>
            </a:pPr>
            <a:r>
              <a:t>• Standard chatbots rely on dummy scripts and can't interact with the cart or catalog.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645920"/>
            <a:ext cx="3328416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08576" y="1828800"/>
            <a:ext cx="296265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59E0B"/>
                </a:solidFill>
              </a:defRPr>
            </a:pPr>
            <a:r>
              <a:t>💡 The Furnish Solution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Agentic AI assistant that reads live store inventory and database state.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Autonomous function calling to query catalog, recommend pairings, and execute cart updates.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Context-aware recommendations matching budget, stock, and style category.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Instant self-service tracking for user orders directly in conversational UI.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645920"/>
            <a:ext cx="3328416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02752" y="1828800"/>
            <a:ext cx="296265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0B981"/>
                </a:solidFill>
              </a:defRPr>
            </a:pPr>
            <a:r>
              <a:t>🚀 Business Value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Higher conversion rates via personalized styling advice.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Reduced friction &amp; zero-click cart modifications.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24/7 automated customer service with fallback local concierge.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Modern aesthetic attracting premium home decor buyers.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Arial"/>
              </a:defRPr>
            </a:pPr>
            <a:r>
              <a:t>FURNISH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System Architecture &amp; Technology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728655" cy="274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4688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2194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366F1"/>
                </a:solidFill>
              </a:defRPr>
            </a:pPr>
            <a:r>
              <a:t>🌐 Frontend Layer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▪ HTML5 &amp; Responsive Layouts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▪ Custom Vanilla CSS Design System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▪ AJAX-driven AI Chat UI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▪ Dynamic Cart Badges &amp; Cards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▪ Glassmorphism Visual Style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645920"/>
            <a:ext cx="24688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79" y="1828800"/>
            <a:ext cx="2194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59E0B"/>
                </a:solidFill>
              </a:defRPr>
            </a:pPr>
            <a:r>
              <a:t>⚡ Backend Engine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▪ Django 6.1 (Python Framework)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▪ Django ORM Data Abstraction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▪ Gunicorn WSGI Server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▪ Whitenoise Static Asset Engine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▪ Session History Management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24688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828800"/>
            <a:ext cx="2194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</a:defRPr>
            </a:pPr>
            <a:r>
              <a:t>🧠 Agentic AI Core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▪ Google AI Studio (Gemini 3.6)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▪ Autonomous Tool Declarations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▪ ContextVar Thread Safety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▪ Dual Mode: Gemini &amp; Local Fallback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▪ Regex Token Matching Fallback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1645920"/>
            <a:ext cx="24688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98280" y="1828800"/>
            <a:ext cx="2194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C4899"/>
                </a:solidFill>
              </a:defRPr>
            </a:pPr>
            <a:r>
              <a:t>💳 Payments &amp; Data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▪ Razorpay Payment Gateway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▪ HMAC SHA256 Verification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▪ PostgreSQL / SQLite Database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▪ UUID Order Tracking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▪ Pillow Image Processing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Arial"/>
              </a:defRPr>
            </a:pPr>
            <a:r>
              <a:t>FURNISH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Database Schema &amp; Entity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728655" cy="274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45920"/>
          <a:ext cx="10728655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114800"/>
                <a:gridCol w="4327855"/>
              </a:tblGrid>
              <a:tr h="640080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59E0B"/>
                          </a:solidFill>
                        </a:defRPr>
                      </a:pPr>
                      <a:r>
                        <a:t>Model Name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59E0B"/>
                          </a:solidFill>
                        </a:defRPr>
                      </a:pPr>
                      <a:r>
                        <a:t>Key Attributes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59E0B"/>
                          </a:solidFill>
                        </a:defRPr>
                      </a:pPr>
                      <a:r>
                        <a:t>Relationships &amp; Purpose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Ecomm_Category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category_name, category_slug, category_desc, category_image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Organizes catalog into furniture types; auto-generates URL slugs.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Ecom_Product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product_name, product_slug, price, quantity_in_stock, is_active, is_featured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FK to Ecomm_Category; primary catalog table with stock controls.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Ecom_Favourites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user, product, createdaAt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FK to User &amp; Product; user wishlist storage.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Ecom_Cart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user, product, quantity, total_price (property)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FK to User &amp; Product; active shopping cart items with computed total.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Ecom_Adress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user, address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FK to User; stores shipping addresses for checkout.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Ecom_Order &amp; Item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order_id (UUID), user, shipping_address, total_amount, payment_mode, payment_status, razor_order_id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FK to User &amp; Address; stores completed/pending orders &amp; items.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Arial"/>
              </a:defRPr>
            </a:pPr>
            <a:r>
              <a:t>FURNISH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Deep Dive: Agentic AI Function Calling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728655" cy="274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8655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9E0B"/>
                </a:solidFill>
              </a:defRPr>
            </a:pPr>
            <a:r>
              <a:t>⚙️ 8 Autonomous Python Tools Exposed to Google Gemini</a:t>
            </a:r>
          </a:p>
          <a:p>
            <a:pPr>
              <a:spcBef>
                <a:spcPts val="600"/>
              </a:spcBef>
              <a:defRPr sz="1200" b="1">
                <a:solidFill>
                  <a:srgbClr val="10B981"/>
                </a:solidFill>
              </a:defRPr>
            </a:pPr>
            <a:r>
              <a:t>• 1. search_products(query, category, min_price, max_price)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└─ Queries ORM catalog with fuzzy token-matching &amp; stem relevance scoring.</a:t>
            </a:r>
          </a:p>
          <a:p>
            <a:pPr>
              <a:spcBef>
                <a:spcPts val="600"/>
              </a:spcBef>
              <a:defRPr sz="1200" b="1">
                <a:solidFill>
                  <a:srgbClr val="10B981"/>
                </a:solidFill>
              </a:defRPr>
            </a:pPr>
            <a:r>
              <a:t>• 2. get_product_details(product_name_or_id)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└─ Fetches complete specs, exact stock count, and high-res image link.</a:t>
            </a:r>
          </a:p>
          <a:p>
            <a:pPr>
              <a:spcBef>
                <a:spcPts val="600"/>
              </a:spcBef>
              <a:defRPr sz="1200" b="1">
                <a:solidFill>
                  <a:srgbClr val="10B981"/>
                </a:solidFill>
              </a:defRPr>
            </a:pPr>
            <a:r>
              <a:t>• 3. get_user_cart()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└─ Calculates live cart contents, itemized list, and current subtotal for auth user.</a:t>
            </a:r>
          </a:p>
          <a:p>
            <a:pPr>
              <a:spcBef>
                <a:spcPts val="600"/>
              </a:spcBef>
              <a:defRPr sz="1200" b="1">
                <a:solidFill>
                  <a:srgbClr val="10B981"/>
                </a:solidFill>
              </a:defRPr>
            </a:pPr>
            <a:r>
              <a:t>• 4. add_product_to_cart(product_id, quantity)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└─ Validates stock levels and adds item directly to user's cart in DB.</a:t>
            </a:r>
          </a:p>
          <a:p>
            <a:pPr>
              <a:spcBef>
                <a:spcPts val="600"/>
              </a:spcBef>
              <a:defRPr sz="1200" b="1">
                <a:solidFill>
                  <a:srgbClr val="10B981"/>
                </a:solidFill>
              </a:defRPr>
            </a:pPr>
            <a:r>
              <a:t>• 5. remove_product_from_cart(product_id)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└─ Deletes specified product from active user session cart.</a:t>
            </a:r>
          </a:p>
          <a:p>
            <a:pPr>
              <a:spcBef>
                <a:spcPts val="600"/>
              </a:spcBef>
              <a:defRPr sz="1200" b="1">
                <a:solidFill>
                  <a:srgbClr val="10B981"/>
                </a:solidFill>
              </a:defRPr>
            </a:pPr>
            <a:r>
              <a:t>• 6. get_order_history()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└─ Fetches top 5 recent orders placed by current user with delivery statuses.</a:t>
            </a:r>
          </a:p>
          <a:p>
            <a:pPr>
              <a:spcBef>
                <a:spcPts val="600"/>
              </a:spcBef>
              <a:defRPr sz="1200" b="1">
                <a:solidFill>
                  <a:srgbClr val="10B981"/>
                </a:solidFill>
              </a:defRPr>
            </a:pPr>
            <a:r>
              <a:t>• 7. track_specific_order(order_query)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└─ Performs UUID or tracking code lookup for exact order status.</a:t>
            </a:r>
          </a:p>
          <a:p>
            <a:pPr>
              <a:spcBef>
                <a:spcPts val="600"/>
              </a:spcBef>
              <a:defRPr sz="1200" b="1">
                <a:solidFill>
                  <a:srgbClr val="10B981"/>
                </a:solidFill>
              </a:defRPr>
            </a:pPr>
            <a:r>
              <a:t>• 8. get_store_categories()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└─ Returns all active categories and product counts for room styling suggestions.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Arial"/>
              </a:defRPr>
            </a:pPr>
            <a:r>
              <a:t>FURNISH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AI Architecture: ContextVar Isolation &amp; Fallback Engine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728655" cy="274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6366F1"/>
                </a:solidFill>
              </a:defRPr>
            </a:pPr>
            <a:r>
              <a:t>🔒 Thread-Safe ContextVar Isolation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Google GenAI SDK deep-copies tool declarations during schema registration.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Furnish uses Python `contextvars.ContextVar('active_agent')` to bind the active web request instance.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Allows top-level function declarations (`search_products()`) to seamlessly route tool executions to the current HTTP request user.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Prevents cross-talk between concurrent web users and avoids thread locking issues.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8095" y="164592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30975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59E0B"/>
                </a:solidFill>
              </a:defRPr>
            </a:pPr>
            <a:r>
              <a:t>🛡️ Local Concierge Fallback Engine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Activated automatically when API key is missing or quota/rate limit is reached (HTTP 429).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Uses regex keyword extraction and stop-word filtering to perform local DB catalog searches.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Supports full cart management (add, inspect, remove) locally.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Tracks orders via regex pattern extraction on order UUIDs.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Guarantees 100% service uptime even when external AI API services are unavailable.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Arial"/>
              </a:defRPr>
            </a:pPr>
            <a:r>
              <a:t>FURNISH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E-Commerce Workflow &amp; Razorpay Payments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728655" cy="274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8655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366F1"/>
                </a:solidFill>
              </a:defRPr>
            </a:pPr>
            <a:r>
              <a:t>Step 1: Product Selection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Browse, filter, or ask AI Stylist to add products to cart.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60320"/>
            <a:ext cx="10728655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65176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Step 2: Address &amp; Order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Select saved address or enter new address. Create order in DB.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474720"/>
            <a:ext cx="10728655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56616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Step 3: Razorpay Initialization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Generate Razorpay order ID in backend (amount in paise).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389120"/>
            <a:ext cx="10728655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480559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Step 4: HMAC Verification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Client pays via Razorpay JS modal; signature verified with HMAC SHA256.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303520"/>
            <a:ext cx="10728655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394959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366F1"/>
                </a:solidFill>
              </a:defRPr>
            </a:pPr>
            <a:r>
              <a:t>Step 5: Fulfillment &amp; Tracking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Cart flushed upon payment success; order assigned UUID tracking code.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Arial"/>
              </a:defRPr>
            </a:pPr>
            <a:r>
              <a:t>FURNISH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UI/UX &amp; Interactive Design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728655" cy="274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28416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305409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📱 Full-Page AI Studio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Dedicated `/ai/assistant/` route for full-screen interior styling experience.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Interactive chat window with rich product recommendations rendered directly as actionable cards.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Quick-action prompt buttons (e.g. 'Show Living Room Sofas', 'Track My Order').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645920"/>
            <a:ext cx="3328416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79" y="1828800"/>
            <a:ext cx="305409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366F1"/>
                </a:solidFill>
              </a:defRPr>
            </a:pPr>
            <a:r>
              <a:t>🛍️ Dynamic Catalog Page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Multi-criteria filter sidebar (categories, price presets, price range, stock).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Preserves active filter query strings during pagination.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Visual badges for 'Featured' and 'Out of Stock' items.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3328416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828800"/>
            <a:ext cx="305409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⚡ Micro-Interactions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Real-time cart item counter badge update.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Instant toast notifications on adding to cart/favourites.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Glassmorphic design elements with sleek dark mode aesthetics.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Arial"/>
              </a:defRPr>
            </a:pPr>
            <a:r>
              <a:t>FURNISH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Security Hardening &amp; Performance Optimizations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728655" cy="274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366F1"/>
                </a:solidFill>
              </a:defRPr>
            </a:pPr>
            <a:r>
              <a:t>🔒 Security Controls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✓ HMAC SHA256 Signature Verification for all Razorpay online payments.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✓ Django Built-in CSRF Protection across all POST endpoints (`@csrf_exempt` scoped strictly to Razorpay payment callback).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✓ User Session Authentication: Cart and order history locked behind auth guards.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✓ Environment variables management (`.env`) for secrets (GEMINI_API_KEY, RAZORPAY_KEY_SECRET).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8095" y="164592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30975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⚡ Performance Optimizations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⚡ Optimized ORM Queries: Extensive use of `select_related()` and `prefetch_related()` to eliminate N+1 queries.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⚡ Database Aggregations: `Count()` annotations for active products per category.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⚡ Whitenoise static asset compression and caching for production deployment.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⚡ Pagination capped at 9 products per page for fast DOM rendering.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Arial"/>
              </a:defRPr>
            </a:pPr>
            <a:r>
              <a:t>FURNISH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Future Roadmap &amp; Technical Expansion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728655" cy="274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8655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55648"/>
            <a:ext cx="103628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59E0B"/>
                </a:solidFill>
              </a:defRPr>
            </a:pPr>
            <a:r>
              <a:t>Phase 1: AR Room Visualization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Integrate WebXR / 3D model previews (GLTF/USDZ) allowing users to visually place furniture in their room using smartphone cameras.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743200"/>
            <a:ext cx="10728655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852928"/>
            <a:ext cx="103628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366F1"/>
                </a:solidFill>
              </a:defRPr>
            </a:pPr>
            <a:r>
              <a:t>Phase 2: Multimodal Visual AI Search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Enable users to upload a picture of their room or inspiration photo; Gemini Vision API analyzes room style and recommends matching pieces.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40480"/>
            <a:ext cx="10728655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950208"/>
            <a:ext cx="103628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</a:defRPr>
            </a:pPr>
            <a:r>
              <a:t>Phase 3: Conversational Voice Shopping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Implement Web Speech API for real-time voice interaction with the AI Interior Stylist.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937760"/>
            <a:ext cx="10728655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047488"/>
            <a:ext cx="103628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59E0B"/>
                </a:solidFill>
              </a:defRPr>
            </a:pPr>
            <a:r>
              <a:t>Phase 4: Multi-Vendor &amp; Analytics Dashboard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Seller portal for inventory management and AI-driven sales analytics.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1097280"/>
            <a:ext cx="9997135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40" y="1463040"/>
            <a:ext cx="926561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59E0B"/>
                </a:solidFill>
              </a:defRPr>
            </a:pPr>
            <a:r>
              <a:t>Thank You!</a:t>
            </a:r>
          </a:p>
          <a:p>
            <a:pPr>
              <a:spcBef>
                <a:spcPts val="1000"/>
              </a:spcBef>
              <a:defRPr sz="2000" b="1">
                <a:solidFill>
                  <a:srgbClr val="F8FAFC"/>
                </a:solidFill>
              </a:defRPr>
            </a:pPr>
            <a:r>
              <a:t>Furnish — Pioneering the Future of AI-Powered E-Commerce</a:t>
            </a:r>
          </a:p>
          <a:p>
            <a:pPr>
              <a:spcBef>
                <a:spcPts val="2000"/>
              </a:spcBef>
              <a:defRPr sz="1400">
                <a:solidFill>
                  <a:srgbClr val="94A3B8"/>
                </a:solidFill>
              </a:defRPr>
            </a:pPr>
            <a:r>
              <a:t>Key Takeaway: Furnish proves that integrating autonomous AI agents with full database tool execution creates a superior, frictionless shopping experience for modern users.</a:t>
            </a:r>
          </a:p>
          <a:p>
            <a:pPr>
              <a:spcBef>
                <a:spcPts val="3000"/>
              </a:spcBef>
              <a:defRPr sz="1800" b="1">
                <a:solidFill>
                  <a:srgbClr val="10B981"/>
                </a:solidFill>
              </a:defRPr>
            </a:pPr>
            <a:r>
              <a:t>Open for Questions &amp; Live Demonstration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